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s_terminal_3d_1788299586743.jpg"/>
          <p:cNvPicPr>
            <a:picLocks noChangeAspect="1"/>
          </p:cNvPicPr>
          <p:nvPr/>
        </p:nvPicPr>
        <p:blipFill>
          <a:blip r:embed="rId2"/>
          <a:stretch>
            <a:fillRect/>
          </a:stretch>
        </p:blipFill>
        <p:spPr>
          <a:xfrm>
            <a:off x="548640" y="1005840"/>
            <a:ext cx="5669280" cy="4937760"/>
          </a:xfrm>
          <a:prstGeom prst="rect">
            <a:avLst/>
          </a:prstGeom>
        </p:spPr>
      </p:pic>
      <p:sp>
        <p:nvSpPr>
          <p:cNvPr id="4" name="TextBox 3"/>
          <p:cNvSpPr txBox="1"/>
          <p:nvPr/>
        </p:nvSpPr>
        <p:spPr>
          <a:xfrm>
            <a:off x="6217920" y="1005840"/>
            <a:ext cx="5303520" cy="5029200"/>
          </a:xfrm>
          <a:prstGeom prst="rect">
            <a:avLst/>
          </a:prstGeom>
          <a:noFill/>
        </p:spPr>
        <p:txBody>
          <a:bodyPr wrap="square">
            <a:spAutoFit/>
          </a:bodyPr>
          <a:lstStyle/>
          <a:p>
            <a:pPr algn="r">
              <a:defRPr sz="1200" b="1">
                <a:solidFill>
                  <a:srgbClr val="F59E0B"/>
                </a:solidFill>
                <a:latin typeface="Segoe UI"/>
              </a:defRPr>
            </a:pPr>
            <a:r>
              <a:t>⚡ جولة استثمارية - 10M$ PITCH DECK</a:t>
            </a:r>
          </a:p>
          <a:p>
            <a:pPr algn="r">
              <a:defRPr sz="3600" b="1">
                <a:solidFill>
                  <a:srgbClr val="00F2FE"/>
                </a:solidFill>
                <a:latin typeface="Tajawal"/>
              </a:defRPr>
            </a:pPr>
            <a:r>
              <a:t>نايلي ماركت | NAYLI MARKET</a:t>
            </a:r>
          </a:p>
          <a:p>
            <a:pPr algn="r">
              <a:defRPr sz="1800" b="1">
                <a:solidFill>
                  <a:srgbClr val="F8FAFC"/>
                </a:solidFill>
                <a:latin typeface="Cairo"/>
              </a:defRPr>
            </a:pPr>
            <a:r>
              <a:t>الجيل القادم لأنظمة تشغيل تجارة التجزئة المستقلة (Autonomous Retail OS)</a:t>
            </a:r>
          </a:p>
          <a:p>
            <a:br/>
            <a:pPr algn="r">
              <a:defRPr sz="1400">
                <a:solidFill>
                  <a:srgbClr val="94A3B8"/>
                </a:solidFill>
                <a:latin typeface="Segoe UI"/>
              </a:defRPr>
            </a:pPr>
            <a:r>
              <a:t>إعادة هندسة تجارة التجزئة في الشرق الأوسط وشمال إفريقيا عبر بنية هجينة (Local-First) تعمل بدون انقطاع، وقاعدة بيانات مسبقة بـ 100,000 منتج، مع ذكاء اصطناعي لإدارة المخزون والديون.</a:t>
            </a:r>
          </a:p>
        </p:txBody>
      </p:sp>
      <p:sp>
        <p:nvSpPr>
          <p:cNvPr id="5" name="Rounded Rectangle 4"/>
          <p:cNvSpPr/>
          <p:nvPr/>
        </p:nvSpPr>
        <p:spPr>
          <a:xfrm>
            <a:off x="6217920" y="4937760"/>
            <a:ext cx="1691640" cy="109728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0" y="4983480"/>
            <a:ext cx="1691640" cy="1005840"/>
          </a:xfrm>
          <a:prstGeom prst="rect">
            <a:avLst/>
          </a:prstGeom>
          <a:noFill/>
        </p:spPr>
        <p:txBody>
          <a:bodyPr wrap="square">
            <a:spAutoFit/>
          </a:bodyPr>
          <a:lstStyle/>
          <a:p>
            <a:pPr algn="ctr">
              <a:defRPr sz="1300" b="1">
                <a:solidFill>
                  <a:srgbClr val="00F2FE"/>
                </a:solidFill>
                <a:latin typeface="Tajawal"/>
              </a:defRPr>
            </a:pPr>
            <a:r>
              <a:t>سرعة خارقة</a:t>
            </a:r>
          </a:p>
          <a:p>
            <a:pPr algn="ctr">
              <a:defRPr sz="1000">
                <a:solidFill>
                  <a:srgbClr val="94A3B8"/>
                </a:solidFill>
                <a:latin typeface="Segoe UI"/>
              </a:defRPr>
            </a:pPr>
            <a:r>
              <a:t>استجابة مسح &lt; 12ms</a:t>
            </a:r>
          </a:p>
        </p:txBody>
      </p:sp>
      <p:sp>
        <p:nvSpPr>
          <p:cNvPr id="7" name="Rounded Rectangle 6"/>
          <p:cNvSpPr/>
          <p:nvPr/>
        </p:nvSpPr>
        <p:spPr>
          <a:xfrm>
            <a:off x="8001000" y="4937760"/>
            <a:ext cx="1691640" cy="109728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4983480"/>
            <a:ext cx="1691640" cy="1005840"/>
          </a:xfrm>
          <a:prstGeom prst="rect">
            <a:avLst/>
          </a:prstGeom>
          <a:noFill/>
        </p:spPr>
        <p:txBody>
          <a:bodyPr wrap="square">
            <a:spAutoFit/>
          </a:bodyPr>
          <a:lstStyle/>
          <a:p>
            <a:pPr algn="ctr">
              <a:defRPr sz="1300" b="1">
                <a:solidFill>
                  <a:srgbClr val="10B981"/>
                </a:solidFill>
                <a:latin typeface="Tajawal"/>
              </a:defRPr>
            </a:pPr>
            <a:r>
              <a:t>P2P Mesh</a:t>
            </a:r>
          </a:p>
          <a:p>
            <a:pPr algn="ctr">
              <a:defRPr sz="1000">
                <a:solidFill>
                  <a:srgbClr val="94A3B8"/>
                </a:solidFill>
                <a:latin typeface="Segoe UI"/>
              </a:defRPr>
            </a:pPr>
            <a:r>
              <a:t>تزامن بدون إنترنت</a:t>
            </a:r>
          </a:p>
        </p:txBody>
      </p:sp>
      <p:sp>
        <p:nvSpPr>
          <p:cNvPr id="9" name="Rounded Rectangle 8"/>
          <p:cNvSpPr/>
          <p:nvPr/>
        </p:nvSpPr>
        <p:spPr>
          <a:xfrm>
            <a:off x="9784080" y="4937760"/>
            <a:ext cx="1691640" cy="109728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0" y="4983480"/>
            <a:ext cx="1691640" cy="1005840"/>
          </a:xfrm>
          <a:prstGeom prst="rect">
            <a:avLst/>
          </a:prstGeom>
          <a:noFill/>
        </p:spPr>
        <p:txBody>
          <a:bodyPr wrap="square">
            <a:spAutoFit/>
          </a:bodyPr>
          <a:lstStyle/>
          <a:p>
            <a:pPr algn="ctr">
              <a:defRPr sz="1300" b="1">
                <a:solidFill>
                  <a:srgbClr val="F59E0B"/>
                </a:solidFill>
                <a:latin typeface="Tajawal"/>
              </a:defRPr>
            </a:pPr>
            <a:r>
              <a:t>100K كنز</a:t>
            </a:r>
          </a:p>
          <a:p>
            <a:pPr algn="ctr">
              <a:defRPr sz="1000">
                <a:solidFill>
                  <a:srgbClr val="94A3B8"/>
                </a:solidFill>
                <a:latin typeface="Segoe UI"/>
              </a:defRPr>
            </a:pPr>
            <a:r>
              <a:t>انطلاق في 60 ثانية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lgn="r">
              <a:defRPr sz="1100" b="1">
                <a:solidFill>
                  <a:srgbClr val="F59E0B"/>
                </a:solidFill>
                <a:latin typeface="Segoe UI"/>
              </a:defRPr>
            </a:pPr>
            <a:r>
              <a:t>THE $45 BILLION MARKET VOID • فجوة السوق</a:t>
            </a:r>
          </a:p>
        </p:txBody>
      </p:sp>
      <p:sp>
        <p:nvSpPr>
          <p:cNvPr id="4" name="TextBox 3"/>
          <p:cNvSpPr txBox="1"/>
          <p:nvPr/>
        </p:nvSpPr>
        <p:spPr>
          <a:xfrm>
            <a:off x="731520" y="640080"/>
            <a:ext cx="10698480" cy="731520"/>
          </a:xfrm>
          <a:prstGeom prst="rect">
            <a:avLst/>
          </a:prstGeom>
          <a:noFill/>
        </p:spPr>
        <p:txBody>
          <a:bodyPr wrap="square">
            <a:spAutoFit/>
          </a:bodyPr>
          <a:lstStyle/>
          <a:p>
            <a:pPr algn="r">
              <a:defRPr sz="2600" b="1">
                <a:solidFill>
                  <a:srgbClr val="F8FAFC"/>
                </a:solidFill>
                <a:latin typeface="Tajawal"/>
              </a:defRPr>
            </a:pPr>
            <a:r>
              <a:t>أزمة تجار التجزئة: نزيف أرباح الكراس الورقي وعقم الأنظمة السحابية</a:t>
            </a:r>
          </a:p>
        </p:txBody>
      </p:sp>
      <p:sp>
        <p:nvSpPr>
          <p:cNvPr id="5" name="Rounded Rectangle 4"/>
          <p:cNvSpPr/>
          <p:nvPr/>
        </p:nvSpPr>
        <p:spPr>
          <a:xfrm>
            <a:off x="731520" y="1463040"/>
            <a:ext cx="2606040" cy="109728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08760"/>
            <a:ext cx="2606040" cy="1005840"/>
          </a:xfrm>
          <a:prstGeom prst="rect">
            <a:avLst/>
          </a:prstGeom>
          <a:noFill/>
        </p:spPr>
        <p:txBody>
          <a:bodyPr wrap="none">
            <a:spAutoFit/>
          </a:bodyPr>
          <a:lstStyle/>
          <a:p>
            <a:pPr algn="ctr">
              <a:defRPr sz="2800" b="1">
                <a:solidFill>
                  <a:srgbClr val="00F2FE"/>
                </a:solidFill>
                <a:latin typeface="Tajawal"/>
              </a:defRPr>
            </a:pPr>
            <a:r>
              <a:t>45B$</a:t>
            </a:r>
          </a:p>
          <a:p>
            <a:pPr algn="ctr">
              <a:defRPr sz="1100">
                <a:solidFill>
                  <a:srgbClr val="94A3B8"/>
                </a:solidFill>
                <a:latin typeface="Segoe UI"/>
              </a:defRPr>
            </a:pPr>
            <a:r>
              <a:t>حجم سوق التجزئة غير المرقمَن</a:t>
            </a:r>
          </a:p>
        </p:txBody>
      </p:sp>
      <p:sp>
        <p:nvSpPr>
          <p:cNvPr id="7" name="Rounded Rectangle 6"/>
          <p:cNvSpPr/>
          <p:nvPr/>
        </p:nvSpPr>
        <p:spPr>
          <a:xfrm>
            <a:off x="3429000" y="1463040"/>
            <a:ext cx="2606040" cy="109728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1508760"/>
            <a:ext cx="2606040" cy="1005840"/>
          </a:xfrm>
          <a:prstGeom prst="rect">
            <a:avLst/>
          </a:prstGeom>
          <a:noFill/>
        </p:spPr>
        <p:txBody>
          <a:bodyPr wrap="none">
            <a:spAutoFit/>
          </a:bodyPr>
          <a:lstStyle/>
          <a:p>
            <a:pPr algn="ctr">
              <a:defRPr sz="2800" b="1">
                <a:solidFill>
                  <a:srgbClr val="F59E0B"/>
                </a:solidFill>
                <a:latin typeface="Tajawal"/>
              </a:defRPr>
            </a:pPr>
            <a:r>
              <a:t>18%</a:t>
            </a:r>
          </a:p>
          <a:p>
            <a:pPr algn="ctr">
              <a:defRPr sz="1100">
                <a:solidFill>
                  <a:srgbClr val="94A3B8"/>
                </a:solidFill>
                <a:latin typeface="Segoe UI"/>
              </a:defRPr>
            </a:pPr>
            <a:r>
              <a:t>نزيف الأرباح السنوي للتاجر</a:t>
            </a:r>
          </a:p>
        </p:txBody>
      </p:sp>
      <p:sp>
        <p:nvSpPr>
          <p:cNvPr id="9" name="Rounded Rectangle 8"/>
          <p:cNvSpPr/>
          <p:nvPr/>
        </p:nvSpPr>
        <p:spPr>
          <a:xfrm>
            <a:off x="6126480" y="1463040"/>
            <a:ext cx="2606040" cy="109728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508760"/>
            <a:ext cx="2606040" cy="1005840"/>
          </a:xfrm>
          <a:prstGeom prst="rect">
            <a:avLst/>
          </a:prstGeom>
          <a:noFill/>
        </p:spPr>
        <p:txBody>
          <a:bodyPr wrap="none">
            <a:spAutoFit/>
          </a:bodyPr>
          <a:lstStyle/>
          <a:p>
            <a:pPr algn="ctr">
              <a:defRPr sz="2800" b="1">
                <a:solidFill>
                  <a:srgbClr val="94A3B8"/>
                </a:solidFill>
                <a:latin typeface="Tajawal"/>
              </a:defRPr>
            </a:pPr>
            <a:r>
              <a:t>85%</a:t>
            </a:r>
          </a:p>
          <a:p>
            <a:pPr algn="ctr">
              <a:defRPr sz="1100">
                <a:solidFill>
                  <a:srgbClr val="94A3B8"/>
                </a:solidFill>
                <a:latin typeface="Segoe UI"/>
              </a:defRPr>
            </a:pPr>
            <a:r>
              <a:t>متاجر لا زالت مقيدة بالدفاتر</a:t>
            </a:r>
          </a:p>
        </p:txBody>
      </p:sp>
      <p:sp>
        <p:nvSpPr>
          <p:cNvPr id="11" name="Rounded Rectangle 10"/>
          <p:cNvSpPr/>
          <p:nvPr/>
        </p:nvSpPr>
        <p:spPr>
          <a:xfrm>
            <a:off x="8823960" y="1463040"/>
            <a:ext cx="2606040" cy="109728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23960" y="1508760"/>
            <a:ext cx="2606040" cy="1005840"/>
          </a:xfrm>
          <a:prstGeom prst="rect">
            <a:avLst/>
          </a:prstGeom>
          <a:noFill/>
        </p:spPr>
        <p:txBody>
          <a:bodyPr wrap="none">
            <a:spAutoFit/>
          </a:bodyPr>
          <a:lstStyle/>
          <a:p>
            <a:pPr algn="ctr">
              <a:defRPr sz="2800" b="1">
                <a:solidFill>
                  <a:srgbClr val="10B981"/>
                </a:solidFill>
                <a:latin typeface="Tajawal"/>
              </a:defRPr>
            </a:pPr>
            <a:r>
              <a:t>0$</a:t>
            </a:r>
          </a:p>
          <a:p>
            <a:pPr algn="ctr">
              <a:defRPr sz="1100">
                <a:solidFill>
                  <a:srgbClr val="94A3B8"/>
                </a:solidFill>
                <a:latin typeface="Segoe UI"/>
              </a:defRPr>
            </a:pPr>
            <a:r>
              <a:t>تكلفة الهدر مع نايلي ماركت</a:t>
            </a:r>
          </a:p>
        </p:txBody>
      </p:sp>
      <p:sp>
        <p:nvSpPr>
          <p:cNvPr id="13" name="Rounded Rectangle 12"/>
          <p:cNvSpPr/>
          <p:nvPr/>
        </p:nvSpPr>
        <p:spPr>
          <a:xfrm>
            <a:off x="731520" y="2834640"/>
            <a:ext cx="5212080" cy="3474720"/>
          </a:xfrm>
          <a:prstGeom prst="roundRect">
            <a:avLst/>
          </a:prstGeom>
          <a:solidFill>
            <a:srgbClr val="181014"/>
          </a:solidFill>
          <a:ln w="15240">
            <a:solidFill>
              <a:srgbClr val="781E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926080"/>
            <a:ext cx="4846320" cy="3291840"/>
          </a:xfrm>
          <a:prstGeom prst="rect">
            <a:avLst/>
          </a:prstGeom>
          <a:noFill/>
        </p:spPr>
        <p:txBody>
          <a:bodyPr wrap="square">
            <a:spAutoFit/>
          </a:bodyPr>
          <a:lstStyle/>
          <a:p>
            <a:pPr algn="r">
              <a:defRPr sz="1800" b="1">
                <a:solidFill>
                  <a:srgbClr val="F87171"/>
                </a:solidFill>
                <a:latin typeface="Tajawal"/>
              </a:defRPr>
            </a:pPr>
            <a:r>
              <a:t>❌ أنظمة الكراس والبرامج السحابية العتيقة</a:t>
            </a:r>
          </a:p>
          <a:p>
            <a:pPr algn="r">
              <a:defRPr sz="1300">
                <a:solidFill>
                  <a:srgbClr val="94A3B8"/>
                </a:solidFill>
                <a:latin typeface="Segoe UI"/>
              </a:defRPr>
            </a:pPr>
            <a:r>
              <a:t>• انقطاع الإنترنت: شلل كامل للمحل وتوقف البيع وخروج الزبائن غاضبين.</a:t>
            </a:r>
          </a:p>
          <a:p>
            <a:pPr algn="r">
              <a:defRPr sz="1300">
                <a:solidFill>
                  <a:srgbClr val="94A3B8"/>
                </a:solidFill>
                <a:latin typeface="Segoe UI"/>
              </a:defRPr>
            </a:pPr>
            <a:r>
              <a:t>• الكريدي الورقي: نسيان وضياع 15% إلى 20% من مستحقات الديون دون استرجاع.</a:t>
            </a:r>
          </a:p>
          <a:p>
            <a:pPr algn="r">
              <a:defRPr sz="1300">
                <a:solidFill>
                  <a:srgbClr val="94A3B8"/>
                </a:solidFill>
                <a:latin typeface="Segoe UI"/>
              </a:defRPr>
            </a:pPr>
            <a:r>
              <a:t>• الإدخال اليدوي: 3 إلى 6 أشهر لإدخال آلاف السلع بالاسم والباركود.</a:t>
            </a:r>
          </a:p>
          <a:p>
            <a:pPr algn="r">
              <a:defRPr sz="1300">
                <a:solidFill>
                  <a:srgbClr val="94A3B8"/>
                </a:solidFill>
                <a:latin typeface="Segoe UI"/>
              </a:defRPr>
            </a:pPr>
            <a:r>
              <a:t>• سرقة المخزون: انعدام الرقابة الفورية على الصندوق وتلاعب العمال.</a:t>
            </a:r>
          </a:p>
        </p:txBody>
      </p:sp>
      <p:sp>
        <p:nvSpPr>
          <p:cNvPr id="15" name="Rounded Rectangle 14"/>
          <p:cNvSpPr/>
          <p:nvPr/>
        </p:nvSpPr>
        <p:spPr>
          <a:xfrm>
            <a:off x="6217920" y="2834640"/>
            <a:ext cx="5212080" cy="3474720"/>
          </a:xfrm>
          <a:prstGeom prst="roundRect">
            <a:avLst/>
          </a:prstGeom>
          <a:solidFill>
            <a:srgbClr val="0C1C1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926080"/>
            <a:ext cx="4846320" cy="3291840"/>
          </a:xfrm>
          <a:prstGeom prst="rect">
            <a:avLst/>
          </a:prstGeom>
          <a:noFill/>
        </p:spPr>
        <p:txBody>
          <a:bodyPr wrap="square">
            <a:spAutoFit/>
          </a:bodyPr>
          <a:lstStyle/>
          <a:p>
            <a:pPr algn="r">
              <a:defRPr sz="1800" b="1">
                <a:solidFill>
                  <a:srgbClr val="10B981"/>
                </a:solidFill>
                <a:latin typeface="Tajawal"/>
              </a:defRPr>
            </a:pPr>
            <a:r>
              <a:t>✔️ منظومة Nayli Market / Lumina POS</a:t>
            </a:r>
          </a:p>
          <a:p>
            <a:pPr algn="r">
              <a:defRPr sz="1300">
                <a:solidFill>
                  <a:srgbClr val="F8FAFC"/>
                </a:solidFill>
                <a:latin typeface="Segoe UI"/>
              </a:defRPr>
            </a:pPr>
            <a:r>
              <a:t>• بنية Local-First: يعمل 100% بدون إنترنت مع سرعة فائقة أقل من 12ms.</a:t>
            </a:r>
          </a:p>
          <a:p>
            <a:pPr algn="r">
              <a:defRPr sz="1300">
                <a:solidFill>
                  <a:srgbClr val="F8FAFC"/>
                </a:solidFill>
                <a:latin typeface="Segoe UI"/>
              </a:defRPr>
            </a:pPr>
            <a:r>
              <a:t>• ذكاء إدارة الكريدي: سقف ائتماني لكل زبون وتنبيهات ومشاركة واتساب.</a:t>
            </a:r>
          </a:p>
          <a:p>
            <a:pPr algn="r">
              <a:defRPr sz="1300">
                <a:solidFill>
                  <a:srgbClr val="F8FAFC"/>
                </a:solidFill>
                <a:latin typeface="Segoe UI"/>
              </a:defRPr>
            </a:pPr>
            <a:r>
              <a:t>• 100,000 سلعة مجهزة: مسح فوري للباركود والبدء في البيع خلال دقيقة واحدة.</a:t>
            </a:r>
          </a:p>
          <a:p>
            <a:pPr algn="r">
              <a:defRPr sz="1300">
                <a:solidFill>
                  <a:srgbClr val="F8FAFC"/>
                </a:solidFill>
                <a:latin typeface="Segoe UI"/>
              </a:defRPr>
            </a:pPr>
            <a:r>
              <a:t>• انضباط الصندوق والورديات: حساب الأرباح الصافية ورأس المال بدقة السنتيم.</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lgn="r">
              <a:defRPr sz="1100" b="1">
                <a:solidFill>
                  <a:srgbClr val="00F2FE"/>
                </a:solidFill>
                <a:latin typeface="Segoe UI"/>
              </a:defRPr>
            </a:pPr>
            <a:r>
              <a:t>DEEP TECH &amp; ARCHITECTURE • المعمارية الخارقة</a:t>
            </a:r>
          </a:p>
        </p:txBody>
      </p:sp>
      <p:sp>
        <p:nvSpPr>
          <p:cNvPr id="4" name="TextBox 3"/>
          <p:cNvSpPr txBox="1"/>
          <p:nvPr/>
        </p:nvSpPr>
        <p:spPr>
          <a:xfrm>
            <a:off x="731520" y="640080"/>
            <a:ext cx="10698480" cy="731520"/>
          </a:xfrm>
          <a:prstGeom prst="rect">
            <a:avLst/>
          </a:prstGeom>
          <a:noFill/>
        </p:spPr>
        <p:txBody>
          <a:bodyPr wrap="square">
            <a:spAutoFit/>
          </a:bodyPr>
          <a:lstStyle/>
          <a:p>
            <a:pPr algn="r">
              <a:defRPr sz="2600" b="1">
                <a:solidFill>
                  <a:srgbClr val="F8FAFC"/>
                </a:solidFill>
                <a:latin typeface="Tajawal"/>
              </a:defRPr>
            </a:pPr>
            <a:r>
              <a:t>المعمارية التقنية: بنية هجينة وشبكة P2P محلية لا تتوقف أبداً</a:t>
            </a:r>
          </a:p>
        </p:txBody>
      </p:sp>
      <p:pic>
        <p:nvPicPr>
          <p:cNvPr id="5" name="Picture 4" descr="network_mesh_3d_1788299606349.jpg"/>
          <p:cNvPicPr>
            <a:picLocks noChangeAspect="1"/>
          </p:cNvPicPr>
          <p:nvPr/>
        </p:nvPicPr>
        <p:blipFill>
          <a:blip r:embed="rId2"/>
          <a:stretch>
            <a:fillRect/>
          </a:stretch>
        </p:blipFill>
        <p:spPr>
          <a:xfrm>
            <a:off x="731520" y="1463040"/>
            <a:ext cx="5303520" cy="4846320"/>
          </a:xfrm>
          <a:prstGeom prst="rect">
            <a:avLst/>
          </a:prstGeom>
        </p:spPr>
      </p:pic>
      <p:sp>
        <p:nvSpPr>
          <p:cNvPr id="6" name="Rounded Rectangle 5"/>
          <p:cNvSpPr/>
          <p:nvPr/>
        </p:nvSpPr>
        <p:spPr>
          <a:xfrm>
            <a:off x="6309360" y="1463040"/>
            <a:ext cx="5120640" cy="150876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08760"/>
            <a:ext cx="4754880" cy="1371600"/>
          </a:xfrm>
          <a:prstGeom prst="rect">
            <a:avLst/>
          </a:prstGeom>
          <a:noFill/>
        </p:spPr>
        <p:txBody>
          <a:bodyPr wrap="square">
            <a:spAutoFit/>
          </a:bodyPr>
          <a:lstStyle/>
          <a:p>
            <a:pPr algn="r">
              <a:defRPr sz="1500" b="1">
                <a:solidFill>
                  <a:srgbClr val="00F2FE"/>
                </a:solidFill>
                <a:latin typeface="Tajawal"/>
              </a:defRPr>
            </a:pPr>
            <a:r>
              <a:t>⚡ P2P Local Sync Server</a:t>
            </a:r>
          </a:p>
          <a:p>
            <a:pPr algn="r">
              <a:defRPr sz="1200">
                <a:solidFill>
                  <a:srgbClr val="94A3B8"/>
                </a:solidFill>
                <a:latin typeface="Segoe UI"/>
              </a:defRPr>
            </a:pPr>
            <a:r>
              <a:t>خادم مزامنة محلي مدمج في الكاشير يربط هواتف العمال في الممرات وشاشات الزبائن Kiosk والميزان دون حاجة لراوتر أو إنترنت خارجي.</a:t>
            </a:r>
          </a:p>
        </p:txBody>
      </p:sp>
      <p:sp>
        <p:nvSpPr>
          <p:cNvPr id="8" name="Rounded Rectangle 7"/>
          <p:cNvSpPr/>
          <p:nvPr/>
        </p:nvSpPr>
        <p:spPr>
          <a:xfrm>
            <a:off x="6309360" y="3108960"/>
            <a:ext cx="5120640" cy="150876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3154680"/>
            <a:ext cx="4754880" cy="1371600"/>
          </a:xfrm>
          <a:prstGeom prst="rect">
            <a:avLst/>
          </a:prstGeom>
          <a:noFill/>
        </p:spPr>
        <p:txBody>
          <a:bodyPr wrap="square">
            <a:spAutoFit/>
          </a:bodyPr>
          <a:lstStyle/>
          <a:p>
            <a:pPr algn="r">
              <a:defRPr sz="1500" b="1">
                <a:solidFill>
                  <a:srgbClr val="10B981"/>
                </a:solidFill>
                <a:latin typeface="Tajawal"/>
              </a:defRPr>
            </a:pPr>
            <a:r>
              <a:t>⚡ محرك Hive NoSQL فائق الاستجابة</a:t>
            </a:r>
          </a:p>
          <a:p>
            <a:pPr algn="r">
              <a:defRPr sz="1200">
                <a:solidFill>
                  <a:srgbClr val="94A3B8"/>
                </a:solidFill>
                <a:latin typeface="Segoe UI"/>
              </a:defRPr>
            </a:pPr>
            <a:r>
              <a:t>قراءة وكتابة السجلات في أجزاء من الميلي ثانية (Sub-12ms). صمود تام أمام انقطاع الكهرباء مع حفظ فوري لكل حركة بيع.</a:t>
            </a:r>
          </a:p>
        </p:txBody>
      </p:sp>
      <p:sp>
        <p:nvSpPr>
          <p:cNvPr id="10" name="Rounded Rectangle 9"/>
          <p:cNvSpPr/>
          <p:nvPr/>
        </p:nvSpPr>
        <p:spPr>
          <a:xfrm>
            <a:off x="6309360" y="4754880"/>
            <a:ext cx="5120640" cy="150876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4800600"/>
            <a:ext cx="4754880" cy="1371600"/>
          </a:xfrm>
          <a:prstGeom prst="rect">
            <a:avLst/>
          </a:prstGeom>
          <a:noFill/>
        </p:spPr>
        <p:txBody>
          <a:bodyPr wrap="square">
            <a:spAutoFit/>
          </a:bodyPr>
          <a:lstStyle/>
          <a:p>
            <a:pPr algn="r">
              <a:defRPr sz="1500" b="1">
                <a:solidFill>
                  <a:srgbClr val="F59E0B"/>
                </a:solidFill>
                <a:latin typeface="Tajawal"/>
              </a:defRPr>
            </a:pPr>
            <a:r>
              <a:t>⚡ تحويل أي هاتف لماسح باركود ذكي</a:t>
            </a:r>
          </a:p>
          <a:p>
            <a:pPr algn="r">
              <a:defRPr sz="1200">
                <a:solidFill>
                  <a:srgbClr val="94A3B8"/>
                </a:solidFill>
                <a:latin typeface="Segoe UI"/>
              </a:defRPr>
            </a:pPr>
            <a:r>
              <a:t>العمال والمدير يتجولون داخل المتجر ويفحصون الأسعار والمخزون ويرسلون السلات مباشرة لشاشة الكاشير بضغطة زر واحدة.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lgn="r">
              <a:defRPr sz="1100" b="1">
                <a:solidFill>
                  <a:srgbClr val="10B981"/>
                </a:solidFill>
                <a:latin typeface="Segoe UI"/>
              </a:defRPr>
            </a:pPr>
            <a:r>
              <a:t>THE UNBEATABLE MOAT • الحاجز التنافسي الحصري</a:t>
            </a:r>
          </a:p>
        </p:txBody>
      </p:sp>
      <p:sp>
        <p:nvSpPr>
          <p:cNvPr id="4" name="TextBox 3"/>
          <p:cNvSpPr txBox="1"/>
          <p:nvPr/>
        </p:nvSpPr>
        <p:spPr>
          <a:xfrm>
            <a:off x="731520" y="640080"/>
            <a:ext cx="10698480" cy="731520"/>
          </a:xfrm>
          <a:prstGeom prst="rect">
            <a:avLst/>
          </a:prstGeom>
          <a:noFill/>
        </p:spPr>
        <p:txBody>
          <a:bodyPr wrap="square">
            <a:spAutoFit/>
          </a:bodyPr>
          <a:lstStyle/>
          <a:p>
            <a:pPr algn="r">
              <a:defRPr sz="2600" b="1">
                <a:solidFill>
                  <a:srgbClr val="F8FAFC"/>
                </a:solidFill>
                <a:latin typeface="Tajawal"/>
              </a:defRPr>
            </a:pPr>
            <a:r>
              <a:t>السلاح السري: كتالوج مسبق بـ 100,000 سلعة يلغي عائق الإطلاق</a:t>
            </a:r>
          </a:p>
        </p:txBody>
      </p:sp>
      <p:sp>
        <p:nvSpPr>
          <p:cNvPr id="5" name="Rounded Rectangle 4"/>
          <p:cNvSpPr/>
          <p:nvPr/>
        </p:nvSpPr>
        <p:spPr>
          <a:xfrm>
            <a:off x="731520" y="1463040"/>
            <a:ext cx="10698480" cy="201168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10332720" cy="1737360"/>
          </a:xfrm>
          <a:prstGeom prst="rect">
            <a:avLst/>
          </a:prstGeom>
          <a:noFill/>
        </p:spPr>
        <p:txBody>
          <a:bodyPr wrap="square">
            <a:spAutoFit/>
          </a:bodyPr>
          <a:lstStyle/>
          <a:p>
            <a:pPr algn="r">
              <a:defRPr sz="2000" b="1">
                <a:solidFill>
                  <a:srgbClr val="F59E0B"/>
                </a:solidFill>
                <a:latin typeface="Tajawal"/>
              </a:defRPr>
            </a:pPr>
            <a:r>
              <a:t>💡 كيف حطمنا الحاجز الذي يمنع 90% من التجار من التحول الرقمي؟</a:t>
            </a:r>
          </a:p>
          <a:p>
            <a:pPr algn="r">
              <a:defRPr sz="1350">
                <a:solidFill>
                  <a:srgbClr val="F8FAFC"/>
                </a:solidFill>
                <a:latin typeface="Segoe UI"/>
              </a:defRPr>
            </a:pPr>
            <a:r>
              <a:t>في الأنظمة التقليدية، يطلبون من التاجر إدخال 8,000 منتج يدوياً، وهو ما يستغرق شهوراً ويتسبب في فشل المشروع. نحن بنينا قاعدة بيانات مسبقة تضم أكثر من 100,000 منتج محلي ومستورد مع أرقام الباركود والأسعار والتصنيفات. التاجر يمسح الباركود، فيتعرف النظام فوراً على السلعة ويبدأ البيع في 60 ثانية فقط!</a:t>
            </a:r>
          </a:p>
        </p:txBody>
      </p:sp>
      <p:sp>
        <p:nvSpPr>
          <p:cNvPr id="7" name="Rounded Rectangle 6"/>
          <p:cNvSpPr/>
          <p:nvPr/>
        </p:nvSpPr>
        <p:spPr>
          <a:xfrm>
            <a:off x="731520" y="3749039"/>
            <a:ext cx="2606040" cy="256032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114800"/>
            <a:ext cx="2423160" cy="1828800"/>
          </a:xfrm>
          <a:prstGeom prst="rect">
            <a:avLst/>
          </a:prstGeom>
          <a:noFill/>
        </p:spPr>
        <p:txBody>
          <a:bodyPr wrap="none">
            <a:spAutoFit/>
          </a:bodyPr>
          <a:lstStyle/>
          <a:p>
            <a:pPr algn="ctr">
              <a:defRPr sz="3200" b="1">
                <a:solidFill>
                  <a:srgbClr val="00F2FE"/>
                </a:solidFill>
                <a:latin typeface="Tajawal"/>
              </a:defRPr>
            </a:pPr>
            <a:r>
              <a:t>100,000+</a:t>
            </a:r>
          </a:p>
          <a:p>
            <a:pPr algn="ctr">
              <a:defRPr sz="1300">
                <a:solidFill>
                  <a:srgbClr val="94A3B8"/>
                </a:solidFill>
                <a:latin typeface="Segoe UI"/>
              </a:defRPr>
            </a:pPr>
            <a:r>
              <a:t>سلعة مجهزة بالباركود مسبقاً</a:t>
            </a:r>
          </a:p>
        </p:txBody>
      </p:sp>
      <p:sp>
        <p:nvSpPr>
          <p:cNvPr id="9" name="Rounded Rectangle 8"/>
          <p:cNvSpPr/>
          <p:nvPr/>
        </p:nvSpPr>
        <p:spPr>
          <a:xfrm>
            <a:off x="3429000" y="3749039"/>
            <a:ext cx="2606040" cy="256032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114800"/>
            <a:ext cx="2423160" cy="1828800"/>
          </a:xfrm>
          <a:prstGeom prst="rect">
            <a:avLst/>
          </a:prstGeom>
          <a:noFill/>
        </p:spPr>
        <p:txBody>
          <a:bodyPr wrap="none">
            <a:spAutoFit/>
          </a:bodyPr>
          <a:lstStyle/>
          <a:p>
            <a:pPr algn="ctr">
              <a:defRPr sz="3200" b="1">
                <a:solidFill>
                  <a:srgbClr val="10B981"/>
                </a:solidFill>
                <a:latin typeface="Tajawal"/>
              </a:defRPr>
            </a:pPr>
            <a:r>
              <a:t>60 ثانية</a:t>
            </a:r>
          </a:p>
          <a:p>
            <a:pPr algn="ctr">
              <a:defRPr sz="1300">
                <a:solidFill>
                  <a:srgbClr val="94A3B8"/>
                </a:solidFill>
                <a:latin typeface="Segoe UI"/>
              </a:defRPr>
            </a:pPr>
            <a:r>
              <a:t>وقت تشغيل المتجر بالكامل</a:t>
            </a:r>
          </a:p>
        </p:txBody>
      </p:sp>
      <p:sp>
        <p:nvSpPr>
          <p:cNvPr id="11" name="Rounded Rectangle 10"/>
          <p:cNvSpPr/>
          <p:nvPr/>
        </p:nvSpPr>
        <p:spPr>
          <a:xfrm>
            <a:off x="6126480" y="3749039"/>
            <a:ext cx="2606040" cy="256032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114800"/>
            <a:ext cx="2423160" cy="1828800"/>
          </a:xfrm>
          <a:prstGeom prst="rect">
            <a:avLst/>
          </a:prstGeom>
          <a:noFill/>
        </p:spPr>
        <p:txBody>
          <a:bodyPr wrap="none">
            <a:spAutoFit/>
          </a:bodyPr>
          <a:lstStyle/>
          <a:p>
            <a:pPr algn="ctr">
              <a:defRPr sz="3200" b="1">
                <a:solidFill>
                  <a:srgbClr val="F59E0B"/>
                </a:solidFill>
                <a:latin typeface="Tajawal"/>
              </a:defRPr>
            </a:pPr>
            <a:r>
              <a:t>99.8%</a:t>
            </a:r>
          </a:p>
          <a:p>
            <a:pPr algn="ctr">
              <a:defRPr sz="1300">
                <a:solidFill>
                  <a:srgbClr val="94A3B8"/>
                </a:solidFill>
                <a:latin typeface="Segoe UI"/>
              </a:defRPr>
            </a:pPr>
            <a:r>
              <a:t>دقة التعرف على المنتجات</a:t>
            </a:r>
          </a:p>
        </p:txBody>
      </p:sp>
      <p:sp>
        <p:nvSpPr>
          <p:cNvPr id="13" name="Rounded Rectangle 12"/>
          <p:cNvSpPr/>
          <p:nvPr/>
        </p:nvSpPr>
        <p:spPr>
          <a:xfrm>
            <a:off x="8823960" y="3749039"/>
            <a:ext cx="2606040" cy="256032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114800"/>
            <a:ext cx="2423160" cy="1828800"/>
          </a:xfrm>
          <a:prstGeom prst="rect">
            <a:avLst/>
          </a:prstGeom>
          <a:noFill/>
        </p:spPr>
        <p:txBody>
          <a:bodyPr wrap="none">
            <a:spAutoFit/>
          </a:bodyPr>
          <a:lstStyle/>
          <a:p>
            <a:pPr algn="ctr">
              <a:defRPr sz="3200" b="1">
                <a:solidFill>
                  <a:srgbClr val="F8FAFC"/>
                </a:solidFill>
                <a:latin typeface="Tajawal"/>
              </a:defRPr>
            </a:pPr>
            <a:r>
              <a:t>3 أشهر</a:t>
            </a:r>
          </a:p>
          <a:p>
            <a:pPr algn="ctr">
              <a:defRPr sz="1300">
                <a:solidFill>
                  <a:srgbClr val="94A3B8"/>
                </a:solidFill>
                <a:latin typeface="Segoe UI"/>
              </a:defRPr>
            </a:pPr>
            <a:r>
              <a:t>وقت موفر على كل تاجر جديد</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lgn="r">
              <a:defRPr sz="1100" b="1">
                <a:solidFill>
                  <a:srgbClr val="00F2FE"/>
                </a:solidFill>
                <a:latin typeface="Segoe UI"/>
              </a:defRPr>
            </a:pPr>
            <a:r>
              <a:t>OPERATIONAL EXCELLENCE • القدرات الميدانية</a:t>
            </a:r>
          </a:p>
        </p:txBody>
      </p:sp>
      <p:sp>
        <p:nvSpPr>
          <p:cNvPr id="4" name="TextBox 3"/>
          <p:cNvSpPr txBox="1"/>
          <p:nvPr/>
        </p:nvSpPr>
        <p:spPr>
          <a:xfrm>
            <a:off x="731520" y="640080"/>
            <a:ext cx="10698480" cy="731520"/>
          </a:xfrm>
          <a:prstGeom prst="rect">
            <a:avLst/>
          </a:prstGeom>
          <a:noFill/>
        </p:spPr>
        <p:txBody>
          <a:bodyPr wrap="square">
            <a:spAutoFit/>
          </a:bodyPr>
          <a:lstStyle/>
          <a:p>
            <a:pPr algn="r">
              <a:defRPr sz="2600" b="1">
                <a:solidFill>
                  <a:srgbClr val="F8FAFC"/>
                </a:solidFill>
                <a:latin typeface="Tajawal"/>
              </a:defRPr>
            </a:pPr>
            <a:r>
              <a:t>قدرات هندسية ميدانية: مصممة لواقع التاجر وتحدياته اليومية</a:t>
            </a:r>
          </a:p>
        </p:txBody>
      </p:sp>
      <p:sp>
        <p:nvSpPr>
          <p:cNvPr id="5" name="Rounded Rectangle 4"/>
          <p:cNvSpPr/>
          <p:nvPr/>
        </p:nvSpPr>
        <p:spPr>
          <a:xfrm>
            <a:off x="731520" y="1463040"/>
            <a:ext cx="5257800" cy="228600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92040" cy="2011680"/>
          </a:xfrm>
          <a:prstGeom prst="rect">
            <a:avLst/>
          </a:prstGeom>
          <a:noFill/>
        </p:spPr>
        <p:txBody>
          <a:bodyPr wrap="square">
            <a:spAutoFit/>
          </a:bodyPr>
          <a:lstStyle/>
          <a:p>
            <a:pPr algn="r">
              <a:defRPr sz="1600" b="1">
                <a:solidFill>
                  <a:srgbClr val="00F2FE"/>
                </a:solidFill>
                <a:latin typeface="Tajawal"/>
              </a:defRPr>
            </a:pPr>
            <a:r>
              <a:t>⚖️ فك شفرات باركود الموازين الإلكترونية</a:t>
            </a:r>
          </a:p>
          <a:p>
            <a:pPr algn="r">
              <a:defRPr sz="1250">
                <a:solidFill>
                  <a:srgbClr val="94A3B8"/>
                </a:solidFill>
                <a:latin typeface="Segoe UI"/>
              </a:defRPr>
            </a:pPr>
            <a:r>
              <a:t>خوارزمية ذكية مدمجة تقرأ تلقائياً باركود موازين الوزن (اللحوم، الأجبان، الخضار والفاكهة) وتستخرج الوزن وسعر الكيلو والمبلغ الصافي بدقة أوتوماتيكية دون تدخل الكاشير.</a:t>
            </a:r>
          </a:p>
        </p:txBody>
      </p:sp>
      <p:sp>
        <p:nvSpPr>
          <p:cNvPr id="7" name="Rounded Rectangle 6"/>
          <p:cNvSpPr/>
          <p:nvPr/>
        </p:nvSpPr>
        <p:spPr>
          <a:xfrm>
            <a:off x="6172200" y="1463040"/>
            <a:ext cx="5257800" cy="228600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600200"/>
            <a:ext cx="4892040" cy="2011680"/>
          </a:xfrm>
          <a:prstGeom prst="rect">
            <a:avLst/>
          </a:prstGeom>
          <a:noFill/>
        </p:spPr>
        <p:txBody>
          <a:bodyPr wrap="square">
            <a:spAutoFit/>
          </a:bodyPr>
          <a:lstStyle/>
          <a:p>
            <a:pPr algn="r">
              <a:defRPr sz="1600" b="1">
                <a:solidFill>
                  <a:srgbClr val="10B981"/>
                </a:solidFill>
                <a:latin typeface="Tajawal"/>
              </a:defRPr>
            </a:pPr>
            <a:r>
              <a:t>🤝 دفتر الكريدي الذكي (AI Debt Scoring)</a:t>
            </a:r>
          </a:p>
          <a:p>
            <a:pPr algn="r">
              <a:defRPr sz="1250">
                <a:solidFill>
                  <a:srgbClr val="94A3B8"/>
                </a:solidFill>
                <a:latin typeface="Segoe UI"/>
              </a:defRPr>
            </a:pPr>
            <a:r>
              <a:t>إدارة متطورة لديون العملاء، سقف ائتماني محدد، تنبيهات آلية عند التأخر في السداد، كشوفات حساب تفصيلية ترسل عبر الواتساب، وتقييم لمخاطر العميل.</a:t>
            </a:r>
          </a:p>
        </p:txBody>
      </p:sp>
      <p:sp>
        <p:nvSpPr>
          <p:cNvPr id="9" name="Rounded Rectangle 8"/>
          <p:cNvSpPr/>
          <p:nvPr/>
        </p:nvSpPr>
        <p:spPr>
          <a:xfrm>
            <a:off x="731520" y="3931920"/>
            <a:ext cx="5257800" cy="228600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69080"/>
            <a:ext cx="4892040" cy="2011680"/>
          </a:xfrm>
          <a:prstGeom prst="rect">
            <a:avLst/>
          </a:prstGeom>
          <a:noFill/>
        </p:spPr>
        <p:txBody>
          <a:bodyPr wrap="square">
            <a:spAutoFit/>
          </a:bodyPr>
          <a:lstStyle/>
          <a:p>
            <a:pPr algn="r">
              <a:defRPr sz="1600" b="1">
                <a:solidFill>
                  <a:srgbClr val="F59E0B"/>
                </a:solidFill>
                <a:latin typeface="Tajawal"/>
              </a:defRPr>
            </a:pPr>
            <a:r>
              <a:t>📦 البيع بالوحدة والتجزئة والكرتونة (Multi-Pack)</a:t>
            </a:r>
          </a:p>
          <a:p>
            <a:pPr algn="r">
              <a:defRPr sz="1250">
                <a:solidFill>
                  <a:srgbClr val="94A3B8"/>
                </a:solidFill>
                <a:latin typeface="Segoe UI"/>
              </a:defRPr>
            </a:pPr>
            <a:r>
              <a:t>إدارة ذكية لحزم البيع مع احتساب تلقائي للوفر والخصومات عند شراء الكرتونة، ومزامنة لحظية للرصيد الإجمالي للمخزون دون أي التباس.</a:t>
            </a:r>
          </a:p>
        </p:txBody>
      </p:sp>
      <p:sp>
        <p:nvSpPr>
          <p:cNvPr id="11" name="Rounded Rectangle 10"/>
          <p:cNvSpPr/>
          <p:nvPr/>
        </p:nvSpPr>
        <p:spPr>
          <a:xfrm>
            <a:off x="6172200" y="3931920"/>
            <a:ext cx="5257800" cy="228600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4069080"/>
            <a:ext cx="4892040" cy="2011680"/>
          </a:xfrm>
          <a:prstGeom prst="rect">
            <a:avLst/>
          </a:prstGeom>
          <a:noFill/>
        </p:spPr>
        <p:txBody>
          <a:bodyPr wrap="square">
            <a:spAutoFit/>
          </a:bodyPr>
          <a:lstStyle/>
          <a:p>
            <a:pPr algn="r">
              <a:defRPr sz="1600" b="1">
                <a:solidFill>
                  <a:srgbClr val="F8FAFC"/>
                </a:solidFill>
                <a:latin typeface="Tajawal"/>
              </a:defRPr>
            </a:pPr>
            <a:r>
              <a:t>💼 إدارة الورديات وجرد الصندوق بالسنتيم</a:t>
            </a:r>
          </a:p>
          <a:p>
            <a:pPr algn="r">
              <a:defRPr sz="1250">
                <a:solidFill>
                  <a:srgbClr val="94A3B8"/>
                </a:solidFill>
                <a:latin typeface="Segoe UI"/>
              </a:defRPr>
            </a:pPr>
            <a:r>
              <a:t>فصل مبيعات كل عامل وكاشير، كشف العجز أو الفائض المالي، تقارير الربح الصافي ورأس المال اللحظي، وطباعة إيصالات التسليم الحرارية عبر البلوتوث وUSB.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lgn="r">
              <a:defRPr sz="1100" b="1">
                <a:solidFill>
                  <a:srgbClr val="F59E0B"/>
                </a:solidFill>
                <a:latin typeface="Segoe UI"/>
              </a:defRPr>
            </a:pPr>
            <a:r>
              <a:t>MONETIZATION &amp; UNIT ECONOMICS • نموذج الإيرادات</a:t>
            </a:r>
          </a:p>
        </p:txBody>
      </p:sp>
      <p:sp>
        <p:nvSpPr>
          <p:cNvPr id="4" name="TextBox 3"/>
          <p:cNvSpPr txBox="1"/>
          <p:nvPr/>
        </p:nvSpPr>
        <p:spPr>
          <a:xfrm>
            <a:off x="731520" y="640080"/>
            <a:ext cx="10698480" cy="731520"/>
          </a:xfrm>
          <a:prstGeom prst="rect">
            <a:avLst/>
          </a:prstGeom>
          <a:noFill/>
        </p:spPr>
        <p:txBody>
          <a:bodyPr wrap="square">
            <a:spAutoFit/>
          </a:bodyPr>
          <a:lstStyle/>
          <a:p>
            <a:pPr algn="r">
              <a:defRPr sz="2600" b="1">
                <a:solidFill>
                  <a:srgbClr val="F8FAFC"/>
                </a:solidFill>
                <a:latin typeface="Tajawal"/>
              </a:defRPr>
            </a:pPr>
            <a:r>
              <a:t>نموذج أعمال عالي الربحية: 88% هامش إجمالي واشتراكات متكررة</a:t>
            </a:r>
          </a:p>
        </p:txBody>
      </p:sp>
      <p:sp>
        <p:nvSpPr>
          <p:cNvPr id="5" name="Rounded Rectangle 4"/>
          <p:cNvSpPr/>
          <p:nvPr/>
        </p:nvSpPr>
        <p:spPr>
          <a:xfrm>
            <a:off x="731520" y="1463040"/>
            <a:ext cx="3474720" cy="237744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3291840" cy="2011680"/>
          </a:xfrm>
          <a:prstGeom prst="rect">
            <a:avLst/>
          </a:prstGeom>
          <a:noFill/>
        </p:spPr>
        <p:txBody>
          <a:bodyPr wrap="square">
            <a:spAutoFit/>
          </a:bodyPr>
          <a:lstStyle/>
          <a:p>
            <a:pPr algn="r">
              <a:defRPr sz="1700" b="1">
                <a:solidFill>
                  <a:srgbClr val="00F2FE"/>
                </a:solidFill>
                <a:latin typeface="Tajawal"/>
              </a:defRPr>
            </a:pPr>
            <a:r>
              <a:t>اشتراكات SaaS المتكررة</a:t>
            </a:r>
          </a:p>
          <a:p>
            <a:pPr algn="r">
              <a:defRPr sz="1300">
                <a:solidFill>
                  <a:srgbClr val="94A3B8"/>
                </a:solidFill>
                <a:latin typeface="Segoe UI"/>
              </a:defRPr>
            </a:pPr>
            <a:r>
              <a:t>رسوم شهرية وسنوية مرنة للترخيص السحابي والنسخ الاحتياطي والتحليلات المتقدمة بهامش ربح يفوق 90%.</a:t>
            </a:r>
          </a:p>
        </p:txBody>
      </p:sp>
      <p:sp>
        <p:nvSpPr>
          <p:cNvPr id="7" name="Rounded Rectangle 6"/>
          <p:cNvSpPr/>
          <p:nvPr/>
        </p:nvSpPr>
        <p:spPr>
          <a:xfrm>
            <a:off x="4343400" y="1463040"/>
            <a:ext cx="3474720" cy="237744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4840" y="1645920"/>
            <a:ext cx="3291840" cy="2011680"/>
          </a:xfrm>
          <a:prstGeom prst="rect">
            <a:avLst/>
          </a:prstGeom>
          <a:noFill/>
        </p:spPr>
        <p:txBody>
          <a:bodyPr wrap="square">
            <a:spAutoFit/>
          </a:bodyPr>
          <a:lstStyle/>
          <a:p>
            <a:pPr algn="r">
              <a:defRPr sz="1700" b="1">
                <a:solidFill>
                  <a:srgbClr val="10B981"/>
                </a:solidFill>
                <a:latin typeface="Tajawal"/>
              </a:defRPr>
            </a:pPr>
            <a:r>
              <a:t>باقات العتاد المتكاملة (Hardware)</a:t>
            </a:r>
          </a:p>
          <a:p>
            <a:pPr algn="r">
              <a:defRPr sz="1300">
                <a:solidFill>
                  <a:srgbClr val="94A3B8"/>
                </a:solidFill>
                <a:latin typeface="Segoe UI"/>
              </a:defRPr>
            </a:pPr>
            <a:r>
              <a:t>تجهيز المتاجر بشاشات لمس متطورة، طابعات حرارية، موازين إلكترونية وماسحات بأسعار تنافسية وهوامش ربح فورية.</a:t>
            </a:r>
          </a:p>
        </p:txBody>
      </p:sp>
      <p:sp>
        <p:nvSpPr>
          <p:cNvPr id="9" name="Rounded Rectangle 8"/>
          <p:cNvSpPr/>
          <p:nvPr/>
        </p:nvSpPr>
        <p:spPr>
          <a:xfrm>
            <a:off x="7955280" y="1463040"/>
            <a:ext cx="3474720" cy="237744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645920"/>
            <a:ext cx="3291840" cy="2011680"/>
          </a:xfrm>
          <a:prstGeom prst="rect">
            <a:avLst/>
          </a:prstGeom>
          <a:noFill/>
        </p:spPr>
        <p:txBody>
          <a:bodyPr wrap="square">
            <a:spAutoFit/>
          </a:bodyPr>
          <a:lstStyle/>
          <a:p>
            <a:pPr algn="r">
              <a:defRPr sz="1700" b="1">
                <a:solidFill>
                  <a:srgbClr val="F59E0B"/>
                </a:solidFill>
                <a:latin typeface="Tajawal"/>
              </a:defRPr>
            </a:pPr>
            <a:r>
              <a:t>شبكة التوريد B2B والمدفوعات</a:t>
            </a:r>
          </a:p>
          <a:p>
            <a:pPr algn="r">
              <a:defRPr sz="1300">
                <a:solidFill>
                  <a:srgbClr val="94A3B8"/>
                </a:solidFill>
                <a:latin typeface="Segoe UI"/>
              </a:defRPr>
            </a:pPr>
            <a:r>
              <a:t>عمولات ربط التجار بكبار موزعي الجملة، ومستقبلاً بوابات الدفع الإلكتروني وحلول التمويل المصغر بالتعاون مع البنوك.</a:t>
            </a:r>
          </a:p>
        </p:txBody>
      </p:sp>
      <p:sp>
        <p:nvSpPr>
          <p:cNvPr id="11" name="Rounded Rectangle 10"/>
          <p:cNvSpPr/>
          <p:nvPr/>
        </p:nvSpPr>
        <p:spPr>
          <a:xfrm>
            <a:off x="731520" y="4114800"/>
            <a:ext cx="2606040" cy="219456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2423160" cy="1645920"/>
          </a:xfrm>
          <a:prstGeom prst="rect">
            <a:avLst/>
          </a:prstGeom>
          <a:noFill/>
        </p:spPr>
        <p:txBody>
          <a:bodyPr wrap="none">
            <a:spAutoFit/>
          </a:bodyPr>
          <a:lstStyle/>
          <a:p>
            <a:pPr algn="ctr">
              <a:defRPr sz="3200" b="1">
                <a:solidFill>
                  <a:srgbClr val="F59E0B"/>
                </a:solidFill>
                <a:latin typeface="Tajawal"/>
              </a:defRPr>
            </a:pPr>
            <a:r>
              <a:t>8.4x</a:t>
            </a:r>
          </a:p>
          <a:p>
            <a:pPr algn="ctr">
              <a:defRPr sz="1250">
                <a:solidFill>
                  <a:srgbClr val="94A3B8"/>
                </a:solidFill>
                <a:latin typeface="Segoe UI"/>
              </a:defRPr>
            </a:pPr>
            <a:r>
              <a:t>نسبة LTV / CAC المرتفعة</a:t>
            </a:r>
          </a:p>
        </p:txBody>
      </p:sp>
      <p:sp>
        <p:nvSpPr>
          <p:cNvPr id="13" name="Rounded Rectangle 12"/>
          <p:cNvSpPr/>
          <p:nvPr/>
        </p:nvSpPr>
        <p:spPr>
          <a:xfrm>
            <a:off x="3429000" y="4114800"/>
            <a:ext cx="2606040" cy="219456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4389120"/>
            <a:ext cx="2423160" cy="1645920"/>
          </a:xfrm>
          <a:prstGeom prst="rect">
            <a:avLst/>
          </a:prstGeom>
          <a:noFill/>
        </p:spPr>
        <p:txBody>
          <a:bodyPr wrap="none">
            <a:spAutoFit/>
          </a:bodyPr>
          <a:lstStyle/>
          <a:p>
            <a:pPr algn="ctr">
              <a:defRPr sz="3200" b="1">
                <a:solidFill>
                  <a:srgbClr val="10B981"/>
                </a:solidFill>
                <a:latin typeface="Tajawal"/>
              </a:defRPr>
            </a:pPr>
            <a:r>
              <a:t>94%</a:t>
            </a:r>
          </a:p>
          <a:p>
            <a:pPr algn="ctr">
              <a:defRPr sz="1250">
                <a:solidFill>
                  <a:srgbClr val="94A3B8"/>
                </a:solidFill>
                <a:latin typeface="Segoe UI"/>
              </a:defRPr>
            </a:pPr>
            <a:r>
              <a:t>نسبة الاحتفاظ السنوي بالعملاء</a:t>
            </a:r>
          </a:p>
        </p:txBody>
      </p:sp>
      <p:sp>
        <p:nvSpPr>
          <p:cNvPr id="15" name="Rounded Rectangle 14"/>
          <p:cNvSpPr/>
          <p:nvPr/>
        </p:nvSpPr>
        <p:spPr>
          <a:xfrm>
            <a:off x="6126480" y="4114800"/>
            <a:ext cx="2606040" cy="219456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4389120"/>
            <a:ext cx="2423160" cy="1645920"/>
          </a:xfrm>
          <a:prstGeom prst="rect">
            <a:avLst/>
          </a:prstGeom>
          <a:noFill/>
        </p:spPr>
        <p:txBody>
          <a:bodyPr wrap="none">
            <a:spAutoFit/>
          </a:bodyPr>
          <a:lstStyle/>
          <a:p>
            <a:pPr algn="ctr">
              <a:defRPr sz="3200" b="1">
                <a:solidFill>
                  <a:srgbClr val="00F2FE"/>
                </a:solidFill>
                <a:latin typeface="Tajawal"/>
              </a:defRPr>
            </a:pPr>
            <a:r>
              <a:t>&lt; شهرين</a:t>
            </a:r>
          </a:p>
          <a:p>
            <a:pPr algn="ctr">
              <a:defRPr sz="1250">
                <a:solidFill>
                  <a:srgbClr val="94A3B8"/>
                </a:solidFill>
                <a:latin typeface="Segoe UI"/>
              </a:defRPr>
            </a:pPr>
            <a:r>
              <a:t>فترة استرداد تكلفة العميل (Payback)</a:t>
            </a:r>
          </a:p>
        </p:txBody>
      </p:sp>
      <p:sp>
        <p:nvSpPr>
          <p:cNvPr id="17" name="Rounded Rectangle 16"/>
          <p:cNvSpPr/>
          <p:nvPr/>
        </p:nvSpPr>
        <p:spPr>
          <a:xfrm>
            <a:off x="8823960" y="4114800"/>
            <a:ext cx="2606040" cy="219456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15400" y="4389120"/>
            <a:ext cx="2423160" cy="1645920"/>
          </a:xfrm>
          <a:prstGeom prst="rect">
            <a:avLst/>
          </a:prstGeom>
          <a:noFill/>
        </p:spPr>
        <p:txBody>
          <a:bodyPr wrap="none">
            <a:spAutoFit/>
          </a:bodyPr>
          <a:lstStyle/>
          <a:p>
            <a:pPr algn="ctr">
              <a:defRPr sz="3200" b="1">
                <a:solidFill>
                  <a:srgbClr val="F8FAFC"/>
                </a:solidFill>
                <a:latin typeface="Tajawal"/>
              </a:defRPr>
            </a:pPr>
            <a:r>
              <a:t>88%</a:t>
            </a:r>
          </a:p>
          <a:p>
            <a:pPr algn="ctr">
              <a:defRPr sz="1250">
                <a:solidFill>
                  <a:srgbClr val="94A3B8"/>
                </a:solidFill>
                <a:latin typeface="Segoe UI"/>
              </a:defRPr>
            </a:pPr>
            <a:r>
              <a:t>هامش الربح الإجمالي (Gross Margin)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lgn="r">
              <a:defRPr sz="1100" b="1">
                <a:solidFill>
                  <a:srgbClr val="00F2FE"/>
                </a:solidFill>
                <a:latin typeface="Segoe UI"/>
              </a:defRPr>
            </a:pPr>
            <a:r>
              <a:t>FINANCIAL ROADMAP • خطة التوسع والنمو</a:t>
            </a:r>
          </a:p>
        </p:txBody>
      </p:sp>
      <p:sp>
        <p:nvSpPr>
          <p:cNvPr id="4" name="TextBox 3"/>
          <p:cNvSpPr txBox="1"/>
          <p:nvPr/>
        </p:nvSpPr>
        <p:spPr>
          <a:xfrm>
            <a:off x="731520" y="640080"/>
            <a:ext cx="10698480" cy="731520"/>
          </a:xfrm>
          <a:prstGeom prst="rect">
            <a:avLst/>
          </a:prstGeom>
          <a:noFill/>
        </p:spPr>
        <p:txBody>
          <a:bodyPr wrap="square">
            <a:spAutoFit/>
          </a:bodyPr>
          <a:lstStyle/>
          <a:p>
            <a:pPr algn="r">
              <a:defRPr sz="2600" b="1">
                <a:solidFill>
                  <a:srgbClr val="F8FAFC"/>
                </a:solidFill>
                <a:latin typeface="Tajawal"/>
              </a:defRPr>
            </a:pPr>
            <a:r>
              <a:t>مسار النمو: خطة الوصول إلى 50,000 متجر و 16.8M$ إيرادات متكررة</a:t>
            </a:r>
          </a:p>
        </p:txBody>
      </p:sp>
      <p:pic>
        <p:nvPicPr>
          <p:cNvPr id="5" name="Picture 4" descr="growth_invest_3d_1788299650916.jpg"/>
          <p:cNvPicPr>
            <a:picLocks noChangeAspect="1"/>
          </p:cNvPicPr>
          <p:nvPr/>
        </p:nvPicPr>
        <p:blipFill>
          <a:blip r:embed="rId2"/>
          <a:stretch>
            <a:fillRect/>
          </a:stretch>
        </p:blipFill>
        <p:spPr>
          <a:xfrm>
            <a:off x="731520" y="1463040"/>
            <a:ext cx="5303520" cy="4846320"/>
          </a:xfrm>
          <a:prstGeom prst="rect">
            <a:avLst/>
          </a:prstGeom>
        </p:spPr>
      </p:pic>
      <p:sp>
        <p:nvSpPr>
          <p:cNvPr id="6" name="Rounded Rectangle 5"/>
          <p:cNvSpPr/>
          <p:nvPr/>
        </p:nvSpPr>
        <p:spPr>
          <a:xfrm>
            <a:off x="6309360" y="1463040"/>
            <a:ext cx="5120640" cy="150876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08760"/>
            <a:ext cx="4754880" cy="1371600"/>
          </a:xfrm>
          <a:prstGeom prst="rect">
            <a:avLst/>
          </a:prstGeom>
          <a:noFill/>
        </p:spPr>
        <p:txBody>
          <a:bodyPr wrap="square">
            <a:spAutoFit/>
          </a:bodyPr>
          <a:lstStyle/>
          <a:p>
            <a:pPr algn="r">
              <a:defRPr sz="1500" b="1">
                <a:solidFill>
                  <a:srgbClr val="00F2FE"/>
                </a:solidFill>
                <a:latin typeface="Tajawal"/>
              </a:defRPr>
            </a:pPr>
            <a:r>
              <a:t>السنة الأولى: التوسع الميداني وبناء الشبكة</a:t>
            </a:r>
          </a:p>
          <a:p>
            <a:pPr algn="r">
              <a:defRPr sz="1200">
                <a:solidFill>
                  <a:srgbClr val="94A3B8"/>
                </a:solidFill>
                <a:latin typeface="Segoe UI"/>
              </a:defRPr>
            </a:pPr>
            <a:r>
              <a:t>🎯 3,500 متجر نشط | 1.2M$ ARR</a:t>
            </a:r>
            <a:br/>
            <a:r>
              <a:t>تغطية كامل ولايات الجزائر عبر شبكة وكلاء ميدانيين وتثبيت الحصة السوقية.</a:t>
            </a:r>
          </a:p>
        </p:txBody>
      </p:sp>
      <p:sp>
        <p:nvSpPr>
          <p:cNvPr id="8" name="Rounded Rectangle 7"/>
          <p:cNvSpPr/>
          <p:nvPr/>
        </p:nvSpPr>
        <p:spPr>
          <a:xfrm>
            <a:off x="6309360" y="3108960"/>
            <a:ext cx="5120640" cy="150876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3154680"/>
            <a:ext cx="4754880" cy="1371600"/>
          </a:xfrm>
          <a:prstGeom prst="rect">
            <a:avLst/>
          </a:prstGeom>
          <a:noFill/>
        </p:spPr>
        <p:txBody>
          <a:bodyPr wrap="square">
            <a:spAutoFit/>
          </a:bodyPr>
          <a:lstStyle/>
          <a:p>
            <a:pPr algn="r">
              <a:defRPr sz="1500" b="1">
                <a:solidFill>
                  <a:srgbClr val="10B981"/>
                </a:solidFill>
                <a:latin typeface="Tajawal"/>
              </a:defRPr>
            </a:pPr>
            <a:r>
              <a:t>السنة الثانية: شمال إفريقيا والـ B2B</a:t>
            </a:r>
          </a:p>
          <a:p>
            <a:pPr algn="r">
              <a:defRPr sz="1200">
                <a:solidFill>
                  <a:srgbClr val="94A3B8"/>
                </a:solidFill>
                <a:latin typeface="Segoe UI"/>
              </a:defRPr>
            </a:pPr>
            <a:r>
              <a:t>🚀 15,000 متجر نشط | 5.4M$ ARR</a:t>
            </a:r>
            <a:br/>
            <a:r>
              <a:t>التوسع في تونس والمغرب وإطلاق منصة التوريد المباشر لكبار الموزعين.</a:t>
            </a:r>
          </a:p>
        </p:txBody>
      </p:sp>
      <p:sp>
        <p:nvSpPr>
          <p:cNvPr id="10" name="Rounded Rectangle 9"/>
          <p:cNvSpPr/>
          <p:nvPr/>
        </p:nvSpPr>
        <p:spPr>
          <a:xfrm>
            <a:off x="6309360" y="4754880"/>
            <a:ext cx="5120640" cy="150876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4800600"/>
            <a:ext cx="4754880" cy="1371600"/>
          </a:xfrm>
          <a:prstGeom prst="rect">
            <a:avLst/>
          </a:prstGeom>
          <a:noFill/>
        </p:spPr>
        <p:txBody>
          <a:bodyPr wrap="square">
            <a:spAutoFit/>
          </a:bodyPr>
          <a:lstStyle/>
          <a:p>
            <a:pPr algn="r">
              <a:defRPr sz="1500" b="1">
                <a:solidFill>
                  <a:srgbClr val="F59E0B"/>
                </a:solidFill>
                <a:latin typeface="Tajawal"/>
              </a:defRPr>
            </a:pPr>
            <a:r>
              <a:t>السنة الثالثة: الخليج والشرق الأوسط</a:t>
            </a:r>
          </a:p>
          <a:p>
            <a:pPr algn="r">
              <a:defRPr sz="1200">
                <a:solidFill>
                  <a:srgbClr val="94A3B8"/>
                </a:solidFill>
                <a:latin typeface="Segoe UI"/>
              </a:defRPr>
            </a:pPr>
            <a:r>
              <a:t>👑 50,000 متجر نشط | 16.8M$ ARR</a:t>
            </a:r>
            <a:br/>
            <a:r>
              <a:t>التوسع في السعودية والإمارات ومصر وربط حلول المدفوعات والـ Fintech بهامش EBITDA 44%.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lgn="r">
              <a:defRPr sz="1100" b="1">
                <a:solidFill>
                  <a:srgbClr val="F59E0B"/>
                </a:solidFill>
                <a:latin typeface="Segoe UI"/>
              </a:defRPr>
            </a:pPr>
            <a:r>
              <a:t>THE INVESTMENT ROUND • الجولة الاستثمارية</a:t>
            </a:r>
          </a:p>
        </p:txBody>
      </p:sp>
      <p:sp>
        <p:nvSpPr>
          <p:cNvPr id="4" name="TextBox 3"/>
          <p:cNvSpPr txBox="1"/>
          <p:nvPr/>
        </p:nvSpPr>
        <p:spPr>
          <a:xfrm>
            <a:off x="731520" y="640080"/>
            <a:ext cx="10698480" cy="731520"/>
          </a:xfrm>
          <a:prstGeom prst="rect">
            <a:avLst/>
          </a:prstGeom>
          <a:noFill/>
        </p:spPr>
        <p:txBody>
          <a:bodyPr wrap="square">
            <a:spAutoFit/>
          </a:bodyPr>
          <a:lstStyle/>
          <a:p>
            <a:pPr algn="r">
              <a:defRPr sz="2600" b="1">
                <a:solidFill>
                  <a:srgbClr val="F8FAFC"/>
                </a:solidFill>
                <a:latin typeface="Tajawal"/>
              </a:defRPr>
            </a:pPr>
            <a:r>
              <a:t>فرصة الشراكة الاستثمارية: جولة Series A لتسريع التوسع الإقليمي</a:t>
            </a:r>
          </a:p>
        </p:txBody>
      </p:sp>
      <p:sp>
        <p:nvSpPr>
          <p:cNvPr id="5" name="Rounded Rectangle 4"/>
          <p:cNvSpPr/>
          <p:nvPr/>
        </p:nvSpPr>
        <p:spPr>
          <a:xfrm>
            <a:off x="731520" y="1463040"/>
            <a:ext cx="10698480" cy="1280160"/>
          </a:xfrm>
          <a:prstGeom prst="roundRect">
            <a:avLst/>
          </a:prstGeom>
          <a:solidFill>
            <a:srgbClr val="18140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32720" cy="1097280"/>
          </a:xfrm>
          <a:prstGeom prst="rect">
            <a:avLst/>
          </a:prstGeom>
          <a:noFill/>
        </p:spPr>
        <p:txBody>
          <a:bodyPr wrap="square">
            <a:spAutoFit/>
          </a:bodyPr>
          <a:lstStyle/>
          <a:p>
            <a:pPr algn="ctr">
              <a:defRPr sz="2200" b="1">
                <a:solidFill>
                  <a:srgbClr val="F59E0B"/>
                </a:solidFill>
                <a:latin typeface="Tajawal"/>
              </a:defRPr>
            </a:pPr>
            <a:r>
              <a:t>🏆 جولة تمويلية مستهدفة: 2.5M$ - 10M$ مقابل حصة ملكية استراتيجية</a:t>
            </a:r>
          </a:p>
          <a:p>
            <a:pPr algn="ctr">
              <a:defRPr sz="1300">
                <a:solidFill>
                  <a:srgbClr val="F8FAFC"/>
                </a:solidFill>
                <a:latin typeface="Segoe UI"/>
              </a:defRPr>
            </a:pPr>
            <a:r>
              <a:t>تهدف الجولة للاستحواذ السريع على سوق التجزئة في شمال إفريقيا والشرق الأوسط، ورقمنة 50,000 نقطة بيع.</a:t>
            </a:r>
          </a:p>
        </p:txBody>
      </p:sp>
      <p:sp>
        <p:nvSpPr>
          <p:cNvPr id="7" name="Rounded Rectangle 6"/>
          <p:cNvSpPr/>
          <p:nvPr/>
        </p:nvSpPr>
        <p:spPr>
          <a:xfrm>
            <a:off x="731520" y="2926080"/>
            <a:ext cx="5257800" cy="160020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063240"/>
            <a:ext cx="4892040" cy="1371600"/>
          </a:xfrm>
          <a:prstGeom prst="rect">
            <a:avLst/>
          </a:prstGeom>
          <a:noFill/>
        </p:spPr>
        <p:txBody>
          <a:bodyPr wrap="square">
            <a:spAutoFit/>
          </a:bodyPr>
          <a:lstStyle/>
          <a:p>
            <a:pPr algn="r">
              <a:defRPr sz="1600" b="1">
                <a:solidFill>
                  <a:srgbClr val="00F2FE"/>
                </a:solidFill>
                <a:latin typeface="Tajawal"/>
              </a:defRPr>
            </a:pPr>
            <a:r>
              <a:t>40% - الذكاء الاصطناعي والتطوير</a:t>
            </a:r>
          </a:p>
          <a:p>
            <a:pPr algn="r">
              <a:defRPr sz="1200">
                <a:solidFill>
                  <a:srgbClr val="94A3B8"/>
                </a:solidFill>
                <a:latin typeface="Segoe UI"/>
              </a:defRPr>
            </a:pPr>
            <a:r>
              <a:t>تعميق بنية الـ Local-Sync، خوارزميات التنبؤ التلقائي بالطلب، وبوابات الربط المالي (APIs).</a:t>
            </a:r>
          </a:p>
        </p:txBody>
      </p:sp>
      <p:sp>
        <p:nvSpPr>
          <p:cNvPr id="9" name="Rounded Rectangle 8"/>
          <p:cNvSpPr/>
          <p:nvPr/>
        </p:nvSpPr>
        <p:spPr>
          <a:xfrm>
            <a:off x="6172200" y="2926080"/>
            <a:ext cx="5257800" cy="160020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063240"/>
            <a:ext cx="4892040" cy="1371600"/>
          </a:xfrm>
          <a:prstGeom prst="rect">
            <a:avLst/>
          </a:prstGeom>
          <a:noFill/>
        </p:spPr>
        <p:txBody>
          <a:bodyPr wrap="square">
            <a:spAutoFit/>
          </a:bodyPr>
          <a:lstStyle/>
          <a:p>
            <a:pPr algn="r">
              <a:defRPr sz="1600" b="1">
                <a:solidFill>
                  <a:srgbClr val="10B981"/>
                </a:solidFill>
                <a:latin typeface="Tajawal"/>
              </a:defRPr>
            </a:pPr>
            <a:r>
              <a:t>35% - المبيعات والتوزيع الميداني</a:t>
            </a:r>
          </a:p>
          <a:p>
            <a:pPr algn="r">
              <a:defRPr sz="1200">
                <a:solidFill>
                  <a:srgbClr val="94A3B8"/>
                </a:solidFill>
                <a:latin typeface="Segoe UI"/>
              </a:defRPr>
            </a:pPr>
            <a:r>
              <a:t>نشر شبكة مبيعات ميدانية في 50+ مدينة رئيسية لتسريع انضمام المتاجر في أقل من 24 ساعة.</a:t>
            </a:r>
          </a:p>
        </p:txBody>
      </p:sp>
      <p:sp>
        <p:nvSpPr>
          <p:cNvPr id="11" name="Rounded Rectangle 10"/>
          <p:cNvSpPr/>
          <p:nvPr/>
        </p:nvSpPr>
        <p:spPr>
          <a:xfrm>
            <a:off x="731520" y="4663440"/>
            <a:ext cx="5257800" cy="160020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800600"/>
            <a:ext cx="4892040" cy="1371600"/>
          </a:xfrm>
          <a:prstGeom prst="rect">
            <a:avLst/>
          </a:prstGeom>
          <a:noFill/>
        </p:spPr>
        <p:txBody>
          <a:bodyPr wrap="square">
            <a:spAutoFit/>
          </a:bodyPr>
          <a:lstStyle/>
          <a:p>
            <a:pPr algn="r">
              <a:defRPr sz="1600" b="1">
                <a:solidFill>
                  <a:srgbClr val="F59E0B"/>
                </a:solidFill>
                <a:latin typeface="Tajawal"/>
              </a:defRPr>
            </a:pPr>
            <a:r>
              <a:t>15% - الدعم والعمليات</a:t>
            </a:r>
          </a:p>
          <a:p>
            <a:pPr algn="r">
              <a:defRPr sz="1200">
                <a:solidFill>
                  <a:srgbClr val="94A3B8"/>
                </a:solidFill>
                <a:latin typeface="Segoe UI"/>
              </a:defRPr>
            </a:pPr>
            <a:r>
              <a:t>مركز دعم فني 24/7 عبر الهاتف والواتساب، ومستودعات صيانة واستبدال الأجهزة الفوري.</a:t>
            </a:r>
          </a:p>
        </p:txBody>
      </p:sp>
      <p:sp>
        <p:nvSpPr>
          <p:cNvPr id="13" name="Rounded Rectangle 12"/>
          <p:cNvSpPr/>
          <p:nvPr/>
        </p:nvSpPr>
        <p:spPr>
          <a:xfrm>
            <a:off x="6172200" y="4663440"/>
            <a:ext cx="5257800" cy="160020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4800600"/>
            <a:ext cx="4892040" cy="1371600"/>
          </a:xfrm>
          <a:prstGeom prst="rect">
            <a:avLst/>
          </a:prstGeom>
          <a:noFill/>
        </p:spPr>
        <p:txBody>
          <a:bodyPr wrap="square">
            <a:spAutoFit/>
          </a:bodyPr>
          <a:lstStyle/>
          <a:p>
            <a:pPr algn="r">
              <a:defRPr sz="1600" b="1">
                <a:solidFill>
                  <a:srgbClr val="F8FAFC"/>
                </a:solidFill>
                <a:latin typeface="Tajawal"/>
              </a:defRPr>
            </a:pPr>
            <a:r>
              <a:t>10% - التوسع الإقليمي والاحتياطي</a:t>
            </a:r>
          </a:p>
          <a:p>
            <a:pPr algn="r">
              <a:defRPr sz="1200">
                <a:solidFill>
                  <a:srgbClr val="94A3B8"/>
                </a:solidFill>
                <a:latin typeface="Segoe UI"/>
              </a:defRPr>
            </a:pPr>
            <a:r>
              <a:t>إجراءات التراخيص القانونية والربط الضريبي والمالي في أسواق الخليج العربي.</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lgn="r">
              <a:defRPr sz="1100" b="1">
                <a:solidFill>
                  <a:srgbClr val="10B981"/>
                </a:solidFill>
                <a:latin typeface="Segoe UI"/>
              </a:defRPr>
            </a:pPr>
            <a:r>
              <a:t>RETURN ON INVESTMENT • محاكي العائد المالي</a:t>
            </a:r>
          </a:p>
        </p:txBody>
      </p:sp>
      <p:sp>
        <p:nvSpPr>
          <p:cNvPr id="4" name="TextBox 3"/>
          <p:cNvSpPr txBox="1"/>
          <p:nvPr/>
        </p:nvSpPr>
        <p:spPr>
          <a:xfrm>
            <a:off x="731520" y="640080"/>
            <a:ext cx="10698480" cy="731520"/>
          </a:xfrm>
          <a:prstGeom prst="rect">
            <a:avLst/>
          </a:prstGeom>
          <a:noFill/>
        </p:spPr>
        <p:txBody>
          <a:bodyPr wrap="square">
            <a:spAutoFit/>
          </a:bodyPr>
          <a:lstStyle/>
          <a:p>
            <a:pPr algn="r">
              <a:defRPr sz="2600" b="1">
                <a:solidFill>
                  <a:srgbClr val="F8FAFC"/>
                </a:solidFill>
                <a:latin typeface="Tajawal"/>
              </a:defRPr>
            </a:pPr>
            <a:r>
              <a:t>أثر القيمة وعائد الاستثمار للتاجر: استرداد التكلفة في 14 يوماً فقط</a:t>
            </a:r>
          </a:p>
        </p:txBody>
      </p:sp>
      <p:sp>
        <p:nvSpPr>
          <p:cNvPr id="5" name="Rounded Rectangle 4"/>
          <p:cNvSpPr/>
          <p:nvPr/>
        </p:nvSpPr>
        <p:spPr>
          <a:xfrm>
            <a:off x="731520" y="1463040"/>
            <a:ext cx="5212080" cy="4846320"/>
          </a:xfrm>
          <a:prstGeom prst="roundRect">
            <a:avLst/>
          </a:prstGeom>
          <a:solidFill>
            <a:srgbClr val="101826"/>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4480560"/>
          </a:xfrm>
          <a:prstGeom prst="rect">
            <a:avLst/>
          </a:prstGeom>
          <a:noFill/>
        </p:spPr>
        <p:txBody>
          <a:bodyPr wrap="square">
            <a:spAutoFit/>
          </a:bodyPr>
          <a:lstStyle/>
          <a:p>
            <a:pPr algn="r">
              <a:defRPr sz="1800" b="1">
                <a:solidFill>
                  <a:srgbClr val="00F2FE"/>
                </a:solidFill>
                <a:latin typeface="Tajawal"/>
              </a:defRPr>
            </a:pPr>
            <a:r>
              <a:t>📊 دراسة حالة متجر متوسط الحجم (سوبرماركت):</a:t>
            </a:r>
          </a:p>
          <a:p>
            <a:pPr algn="r">
              <a:defRPr sz="1300" b="0">
                <a:solidFill>
                  <a:srgbClr val="F8FAFC"/>
                </a:solidFill>
                <a:latin typeface="Segoe UI"/>
              </a:defRPr>
            </a:pPr>
            <a:r>
              <a:t>• المبيعات الشهرية: 1,500,000 د.ج (18M د.ج سنوياً)</a:t>
            </a:r>
          </a:p>
          <a:p>
            <a:pPr algn="r">
              <a:defRPr sz="1300" b="0">
                <a:solidFill>
                  <a:srgbClr val="F8FAFC"/>
                </a:solidFill>
                <a:latin typeface="Segoe UI"/>
              </a:defRPr>
            </a:pPr>
            <a:r>
              <a:t>• نسبة مبيعات الكريدي: 25% من إجمالي المبيعات</a:t>
            </a:r>
          </a:p>
          <a:p>
            <a:pPr algn="r">
              <a:defRPr sz="1300" b="0">
                <a:solidFill>
                  <a:srgbClr val="F8FAFC"/>
                </a:solidFill>
                <a:latin typeface="Segoe UI"/>
              </a:defRPr>
            </a:pPr>
            <a:r>
              <a:t>• نسبة الفواقد والسرقات بدون نظام: 10% من الدخل</a:t>
            </a:r>
          </a:p>
          <a:p>
            <a:pPr algn="r">
              <a:defRPr sz="1300" b="0">
                <a:solidFill>
                  <a:srgbClr val="F8FAFC"/>
                </a:solidFill>
                <a:latin typeface="Segoe UI"/>
              </a:defRPr>
            </a:pPr>
            <a:r>
              <a:t>• ساعات الجرد والتدقيق اليدوي: 18 ساعة أسبوعياً</a:t>
            </a:r>
          </a:p>
          <a:p>
            <a:br/>
            <a:pPr algn="r">
              <a:defRPr sz="1300" b="0">
                <a:solidFill>
                  <a:srgbClr val="F8FAFC"/>
                </a:solidFill>
                <a:latin typeface="Segoe UI"/>
              </a:defRPr>
            </a:pPr>
            <a:r>
              <a:t>النتيجة بعد تطبيق Nayli Market POS:</a:t>
            </a:r>
          </a:p>
          <a:p>
            <a:pPr algn="r">
              <a:defRPr sz="1300" b="0">
                <a:solidFill>
                  <a:srgbClr val="F8FAFC"/>
                </a:solidFill>
                <a:latin typeface="Segoe UI"/>
              </a:defRPr>
            </a:pPr>
            <a:r>
              <a:t>✔️ استرجاع ديون منسية: + 675,000 د.ج سنوياً</a:t>
            </a:r>
          </a:p>
          <a:p>
            <a:pPr algn="r">
              <a:defRPr sz="1300" b="0">
                <a:solidFill>
                  <a:srgbClr val="F8FAFC"/>
                </a:solidFill>
                <a:latin typeface="Segoe UI"/>
              </a:defRPr>
            </a:pPr>
            <a:r>
              <a:t>✔️ إيقاف الهدر والتسريب: + 1,260,000 د.ج سنوياً</a:t>
            </a:r>
          </a:p>
          <a:p>
            <a:pPr algn="r">
              <a:defRPr sz="1300" b="1">
                <a:solidFill>
                  <a:srgbClr val="F59E0B"/>
                </a:solidFill>
                <a:latin typeface="Segoe UI"/>
              </a:defRPr>
            </a:pPr>
            <a:r>
              <a:t>✔️ إجمالي التوفير المالي: + 1,935,000 د.ج سنوياً!</a:t>
            </a:r>
          </a:p>
        </p:txBody>
      </p:sp>
      <p:sp>
        <p:nvSpPr>
          <p:cNvPr id="7" name="Rounded Rectangle 6"/>
          <p:cNvSpPr/>
          <p:nvPr/>
        </p:nvSpPr>
        <p:spPr>
          <a:xfrm>
            <a:off x="6217920" y="1463040"/>
            <a:ext cx="5212080" cy="4846320"/>
          </a:xfrm>
          <a:prstGeom prst="roundRect">
            <a:avLst/>
          </a:prstGeom>
          <a:solidFill>
            <a:srgbClr val="0C1C18"/>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114800"/>
          </a:xfrm>
          <a:prstGeom prst="rect">
            <a:avLst/>
          </a:prstGeom>
          <a:noFill/>
        </p:spPr>
        <p:txBody>
          <a:bodyPr wrap="square">
            <a:spAutoFit/>
          </a:bodyPr>
          <a:lstStyle/>
          <a:p>
            <a:pPr algn="ctr">
              <a:defRPr sz="1400">
                <a:solidFill>
                  <a:srgbClr val="94A3B8"/>
                </a:solidFill>
                <a:latin typeface="Segoe UI"/>
              </a:defRPr>
            </a:pPr>
            <a:r>
              <a:t>صافي الأموال المسترجعة سنوياً للتاجر</a:t>
            </a:r>
          </a:p>
          <a:p>
            <a:pPr algn="ctr">
              <a:defRPr sz="4000" b="1">
                <a:solidFill>
                  <a:srgbClr val="10B981"/>
                </a:solidFill>
                <a:latin typeface="Tajawal"/>
              </a:defRPr>
            </a:pPr>
            <a:r>
              <a:t>+ 1,935,000 د.ج</a:t>
            </a:r>
          </a:p>
          <a:p>
            <a:br/>
            <a:pPr algn="ctr">
              <a:defRPr sz="1300">
                <a:solidFill>
                  <a:srgbClr val="F8FAFC"/>
                </a:solidFill>
                <a:latin typeface="Segoe UI"/>
              </a:defRPr>
            </a:pPr>
            <a:r>
              <a:t>أموال كانت تضيع تماماً في الدفاتر اليدوية والسرقات وأخطاء الكاشير!</a:t>
            </a:r>
            <a:br/>
          </a:p>
          <a:p>
            <a:pPr algn="ctr">
              <a:defRPr sz="1400" b="1">
                <a:solidFill>
                  <a:srgbClr val="00F2FE"/>
                </a:solidFill>
                <a:latin typeface="Tajawal"/>
              </a:defRPr>
            </a:pPr>
            <a:r>
              <a:t>ساعات العمل الموفرة سنوياً: 860 ساعة عمل للتاجر</a:t>
            </a:r>
          </a:p>
          <a:p>
            <a:pPr algn="ctr">
              <a:defRPr sz="1400" b="1">
                <a:solidFill>
                  <a:srgbClr val="00F2FE"/>
                </a:solidFill>
                <a:latin typeface="Tajawal"/>
              </a:defRPr>
            </a:pPr>
            <a:r>
              <a:t>فترة استرداد استثمار النظام: أقل من 14 يوماً فقط!</a:t>
            </a:r>
          </a:p>
          <a:p>
            <a:pPr algn="ctr">
              <a:defRPr sz="1400" b="1">
                <a:solidFill>
                  <a:srgbClr val="00F2FE"/>
                </a:solidFill>
                <a:latin typeface="Tajawal"/>
              </a:defRPr>
            </a:pPr>
            <a:r>
              <a:t>العائد على الاستثمار (ROI): يتجاوز 1,200% سنوياً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